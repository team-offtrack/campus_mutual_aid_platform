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Microsoft YaHei"/>
              </a:defRPr>
            </a:pPr>
            <a:r>
              <a:t>校园互助服务平台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期末答辩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4A3B8"/>
                </a:solidFill>
                <a:latin typeface="Microsoft YaHei"/>
              </a:defRPr>
            </a:pPr>
            <a:r>
              <a:t>软件工程与计算 II · 人机交互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3566160"/>
            <a:ext cx="1584655" cy="11887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团队：不误正业     成员：侯乔岳 · 杨佳兴 · 沈诺 · 胡皓轩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沈诺      2026 年 6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团队介绍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角色分工与职责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463040"/>
          <a:ext cx="10607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角  色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成  员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职  责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需求负责人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侯乔岳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功能规划、需求文档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架构负责人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杨佳兴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系统设计、数据库 Schema、API 设计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开发负责人和测试负责人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沈诺、胡皓轩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前后端开发、代码实现、测试用例、质量保证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108960"/>
            <a:ext cx="2697480" cy="31089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2697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侯乔岳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需求负责人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功能规划与需求文档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27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用户调研与用例编写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1149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验收标准制定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9554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需求优先级排序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108960"/>
            <a:ext cx="2697480" cy="31089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3108960"/>
            <a:ext cx="26974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2918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杨佳兴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947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Microsoft YaHei"/>
              </a:defRPr>
            </a:pPr>
            <a:r>
              <a:t>架构负责人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3434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系统架构设计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27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数据库 Schema 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11149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ADR 架构决策记录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49554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API 规范设计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108960"/>
            <a:ext cx="2697480" cy="31089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3108960"/>
            <a:ext cx="26974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918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沈诺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7947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D3EE"/>
                </a:solidFill>
                <a:latin typeface="Microsoft YaHei"/>
              </a:defRPr>
            </a:pPr>
            <a:r>
              <a:t>开发 &amp; 测试负责人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434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前后端全栈开发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27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243 测试用例编写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11149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CI/CD 流水线搭建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49554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HCI 交互细节落地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3108960"/>
            <a:ext cx="2697480" cy="31089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81160" y="3108960"/>
            <a:ext cx="269748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32918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胡皓轩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7947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5CF6"/>
                </a:solidFill>
                <a:latin typeface="Microsoft YaHei"/>
              </a:defRPr>
            </a:pPr>
            <a:r>
              <a:t>开发 &amp; HCI 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3434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需求功能设计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727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HCI 交互设计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511149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M3E 设计系统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49554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▸ 演示与展示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校园互助 — 跑腿 · 交易 · 组队 · 招领 · 互助 · 其他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965960" cy="1143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71600"/>
            <a:ext cx="1965960" cy="1143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371600"/>
            <a:ext cx="1965960" cy="1143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371600"/>
            <a:ext cx="1965960" cy="1143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243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371600"/>
            <a:ext cx="1965960" cy="1143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D3EE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成就徽章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2834640"/>
            <a:ext cx="169164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跑腿代取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代取快递/外卖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51760" y="2834640"/>
            <a:ext cx="169164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二手交易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旧书/电子产品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2834640"/>
            <a:ext cx="169164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组队匹配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竞赛/学习搭子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2834640"/>
            <a:ext cx="169164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失物招领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丢失/拾取物品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2834640"/>
            <a:ext cx="1691640" cy="457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Microsoft YaHei"/>
              </a:defRPr>
            </a:pPr>
            <a:r>
              <a:t>学习互助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辅导/答疑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2834640"/>
            <a:ext cx="1691640" cy="9144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32720" y="2834640"/>
            <a:ext cx="1691640" cy="4572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60" y="2926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其   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搬家/装机等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069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4348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后端：Spring Boot 3.2.5 · MyBatis-Plus 3.5.6 · Spring Security + JWT · WebSocket STOMP · Flyway · MySQL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75488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前端：Vue 3 (Composition API) · Vite 5 · Vant 4 · Pinia · Vue Router 4 · Axios · M3E 设计系统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JWT 无状态认证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59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积分不可变账本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WebSocket 实时通信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5961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9 种成就徽章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55961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响应式双视图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961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举报审核系统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980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悲观锁防超发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59" y="5980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Flyway 版本迁移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980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✦  统一 ApiResult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过程模型：敏捷开发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Agile — 拥抱变化 · 短迭代 · 持续交付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5943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个体和交互 &gt; 过程和工具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97480" cy="5943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417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可工作的软件 &gt; 面面俱到的文档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71600"/>
            <a:ext cx="2697480" cy="5943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1417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客户合作 &gt; 合同谈判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1371600"/>
            <a:ext cx="2697480" cy="5943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59" y="1417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响应变化 &gt; 遵循计划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331720"/>
            <a:ext cx="2103120" cy="2331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团队组建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团队章程 · AI 协作规范 · 技术选型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461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2331720"/>
            <a:ext cx="2103120" cy="2331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用户调研 · 用例建模 · 需求规格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331720"/>
            <a:ext cx="2103120" cy="2331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体系结构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架构设计 ADR · 方案对比 · 辩论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2461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2331720"/>
            <a:ext cx="2103120" cy="2331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详细设计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ER 图 · 类图 · API · DDL · SOLID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24612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2331720"/>
            <a:ext cx="2103120" cy="2331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19" y="2423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Microsoft YaHei"/>
              </a:defRPr>
            </a:pPr>
            <a:r>
              <a:t>P4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2880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Microsoft YaHei"/>
              </a:defRPr>
            </a:pPr>
            <a:r>
              <a:t>编码测试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Sprint 看板 · 编码实现 · CI/CD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983480"/>
            <a:ext cx="10698480" cy="155448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20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Microsoft YaHei"/>
              </a:defRPr>
            </a:pPr>
            <a:r>
              <a:t>Sprint 执行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32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优先级驱动 P0→P4 — 核心功能先交付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5321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每轮迭代产出可运行增量（Demo-first）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79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看板追踪：待办 / 进行中 / 已完成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879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估时到小时 · 每日同步 · 回顾会议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22706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需求随迭代反馈灵活调整 — 拥抱变化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需求三层次 · 六种需求类型 · 功能性 / 非功能性需求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520440" cy="21945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2D3EE"/>
                </a:solidFill>
                <a:latin typeface="Microsoft YaHei"/>
              </a:defRPr>
            </a:pPr>
            <a:r>
              <a:t>业务需求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组织的高层目标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解决校园互助信息不对称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降低学生时间成本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提升校园生活效率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520440" cy="21945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2D3EE"/>
                </a:solidFill>
                <a:latin typeface="Microsoft YaHei"/>
              </a:defRPr>
            </a:pPr>
            <a:r>
              <a:t>用户需求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用户能用系统做什么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发布需求、接单完成任务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积分激励、实时沟通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信用评价、成就激励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20440" cy="21945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2D3EE"/>
                </a:solidFill>
                <a:latin typeface="Microsoft YaHei"/>
              </a:defRPr>
            </a:pPr>
            <a:r>
              <a:t>系统需求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系统必须提供的功能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注册登录、需求 CRUD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状态流转、积分账本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通知推送、管理后台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Microsoft YaHei"/>
              </a:defRPr>
            </a:pPr>
            <a:r>
              <a:t>六种需求类型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跑腿代取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二手交易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组队匹配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失物招领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学习互助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4251960"/>
            <a:ext cx="1691640" cy="502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427939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其他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功能性需求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7667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注册登录 · 需求发布/接单/完成 · 实时聊天 · 积分系统 · 评价评分 · 成就徽章 · 举报审核 · 管理仪表盘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非功能性需求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6247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JWT 鉴权 · 角色守卫 · 悲观锁防超发 · 积分不可变账本 · 响应式设计 · 键盘可访问 · 防重复提交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22D3E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体系结构设计 · 包结构 · 数据库设计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体系结构设计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分层风格 · 模块化单体 · 关键架构决策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512064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Microsoft YaHei"/>
              </a:defRPr>
            </a:pPr>
            <a:r>
              <a:t>分层架构（Layer Style）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246120" cy="14173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24612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展示层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Vue 3 · Vite 5 · Vant 4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Pinia · Vue Router 4 · Axios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M3E 设计系统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响应式双视图 @media 768px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83280"/>
            <a:ext cx="3246120" cy="14173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3246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Microsoft YaHei"/>
              </a:defRPr>
            </a:pPr>
            <a:r>
              <a:t>逻辑层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Spring Boot 3.2.5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Spring Security + JWT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MyBatis-Plus 3.5.6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WebSocket STOMP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37760"/>
            <a:ext cx="3246120" cy="14173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324612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292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949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MySQL · Flyway V1→V14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单表继承 discriminator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积分不可变账本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悲观锁 SELECT FOR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2918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36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36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2801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关键架构决策 (ADR)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4114800" cy="9601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9019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Microsoft YaHei"/>
              </a:defRPr>
            </a:pPr>
            <a:r>
              <a:t>模块化单体 &gt; 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2199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10 周交付 · 无分布式事务 · 模块边界清晰可后续拆分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926080"/>
            <a:ext cx="4114800" cy="9601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9992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Microsoft YaHei"/>
              </a:defRPr>
            </a:pPr>
            <a:r>
              <a:t>JWT 无状态 &gt;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31927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跨域灵活 · 无需服务端存储 · 适合前后端分离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023360"/>
            <a:ext cx="4114800" cy="9601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0965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Microsoft YaHei"/>
              </a:defRPr>
            </a:pPr>
            <a:r>
              <a:t>单表继承 &gt; 多表继承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1655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discriminator + JSON 列 · 6 种需求类型共享 demand 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5120640"/>
            <a:ext cx="4114800" cy="9601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51937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Microsoft YaHei"/>
              </a:defRPr>
            </a:pPr>
            <a:r>
              <a:t>悲观锁 &gt; 乐观锁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513831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积分强一致性 · SELECT FOR UPDATE · 防止并发超发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包结构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逻辑包图</a:t>
            </a:r>
          </a:p>
        </p:txBody>
      </p:sp>
      <p:pic>
        <p:nvPicPr>
          <p:cNvPr id="5" name="Picture 4" descr="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51621"/>
            <a:ext cx="11612880" cy="4103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controller 10 · service 14 · mapper 17 · entity 16 · dto 12 · config 7 · security 3 · common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15 张表 · Flyway V1→V14 · 关键设计决策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15087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15 张表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Flyway V1 → V14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版本化增量迁移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103120" cy="15087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463040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单表继承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9659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discriminator 字段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6 种需求类型共用 demand 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03120" cy="15087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103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463040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不可变账本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9659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points_transaction 仅 INSERT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balance_after 快照审计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371600"/>
            <a:ext cx="2103120" cy="15087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103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463040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悲观锁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19659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SELECT … FOR UPDATE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防止积分并发超发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371600"/>
            <a:ext cx="2103120" cy="15087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10312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1463040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Microsoft YaHei"/>
              </a:defRPr>
            </a:pPr>
            <a:r>
              <a:t>UNIQUE 防重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19659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签到日期 · 收藏对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会话 ID · 学号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15 张数据表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94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user  ·  user_account  ·  demand  ·  demand_application  ·  demand_favorite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points_transaction  ·  badge_definition  ·  user_badge  ·  evaluation  · 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chat_session  ·  chat_message  ·  notification  ·  team  ·  team_member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8B5CF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Microsoft YaHei"/>
              </a:defRPr>
            </a:pPr>
            <a:r>
              <a:t>开发实现：功能与 HCI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API 规范 · 动态建模 · 功能演示 · 人机交互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API 规范与设计类图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57 端点 · 10 Controller · 统一响应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931920" cy="237744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REST API 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Microsoft YaHei"/>
              </a:defRPr>
            </a:pPr>
            <a:r>
              <a:t>57 REST 端点 + 4 WebSocket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10 个 Controller：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User · Demand · Chat · Badge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Evaluation · Notification · Points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Report · TeamMember · Admin</a:t>
            </a:r>
          </a:p>
          <a:p>
            <a:pPr>
              <a:spcAft>
                <a:spcPts val="80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22D3EE"/>
                </a:solidFill>
                <a:latin typeface="Microsoft YaHei"/>
              </a:defRPr>
            </a:pPr>
            <a:r>
              <a:t>统一响应：{ code, message, data }</a:t>
            </a:r>
          </a:p>
          <a:p>
            <a:pPr>
              <a:spcAft>
                <a:spcPts val="800"/>
              </a:spcAft>
              <a:defRPr sz="1200" b="0">
                <a:solidFill>
                  <a:srgbClr val="22D3EE"/>
                </a:solidFill>
                <a:latin typeface="Microsoft YaHei"/>
              </a:defRPr>
            </a:pPr>
            <a:r>
              <a:t>JWT 鉴权 + 角色守卫 USER/ADMIN</a:t>
            </a:r>
          </a:p>
          <a:p>
            <a:pPr>
              <a:spcAft>
                <a:spcPts val="800"/>
              </a:spcAft>
              <a:defRPr sz="1200" b="0">
                <a:solidFill>
                  <a:srgbClr val="22D3EE"/>
                </a:solidFill>
                <a:latin typeface="Microsoft YaHei"/>
              </a:defRPr>
            </a:pPr>
            <a:r>
              <a:t>全局异常处理 @RestControllerAdvice</a:t>
            </a:r>
          </a:p>
        </p:txBody>
      </p:sp>
      <p:pic>
        <p:nvPicPr>
          <p:cNvPr id="8" name="Picture 7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383" y="1234440"/>
            <a:ext cx="4916432" cy="5394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Demand 需求状态图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State Diagram</a:t>
            </a:r>
          </a:p>
        </p:txBody>
      </p:sp>
      <p:pic>
        <p:nvPicPr>
          <p:cNvPr id="5" name="Picture 4" descr="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857" y="1143000"/>
            <a:ext cx="436580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OPEN → IN_PROGRESS → COMPLETED / CANCELLED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系统顺序图：「发布跑腿需求」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SSD — 展示层 → 逻辑层 → 数据层</a:t>
            </a:r>
          </a:p>
        </p:txBody>
      </p:sp>
      <p:pic>
        <p:nvPicPr>
          <p:cNvPr id="5" name="Picture 4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162" y="1143000"/>
            <a:ext cx="424119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POST /api/v1/demands → 3 条 SQL 原子事务 → ApiResult → Toast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功能演示：登录与首页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login.png ]</a:t>
            </a:r>
            <a:br/>
            <a:r>
              <a:t>请放入 docs/final_demo/screenshots/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EEC 闭环（7 阶段）  ·  Nielsen #1 系统状态的可见度 — 签到两态切换  ·  Shneiderman #3 信息丰富的反馈 — 焦点光晕 + toast  ·  问候语按时间切换 — UX 有温度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功能演示：需求广场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demand_list_desktop.png ]</a:t>
            </a:r>
            <a:br/>
            <a:r>
              <a:t>请放入 docs/final_demo/screenshots/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响应式 @media 768px — 卡片 ↔ 表格  ·  Fitts 定律 — FAB 拇指热区 + spring 回弹  ·  Nielsen #6 识别优于记忆 — 彩色类型 chip + 图标  ·  Shneiderman #2 符合普遍可用性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功能演示：发布需求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demand_publish.png ]</a:t>
            </a:r>
            <a:br/>
            <a:r>
              <a:t>请放入 docs/final_demo/screenshots/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Shneiderman #5 预防并处理错误 — 按钮变灰防重复提交  ·  Shneiderman #4 结束信息 — 三重反馈闭环（Toast + 跳转 + 列表更新）  ·  Spring 弹簧动画 — 类型 chip 点击物理手感  ·  必填项缺失 — 红色实时校验提示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功能演示：需求详情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demand_detail.png ]</a:t>
            </a:r>
            <a:br/>
            <a:r>
              <a:t>请放入 docs/final_demo/screenshots/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Shneiderman #7 支持内部控制点 — 不可逆操作二次确认  ·  Shneiderman #5 预防错误 — 接单/完成/取消均需确认弹框  ·  Shneiderman #6 让操作容易撤销 — 评分提交后可修改  ·  Nielsen #1 状态颜色语义 — OPEN 蓝 · 进行中 琥珀 · 完成 绿 · 取消 红灰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功能演示：私信聊天 &amp; 成就徽章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77840" cy="320040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chat.png ]</a:t>
            </a:r>
            <a:br/>
            <a:r>
              <a:t>请放入 docs/final_demo/screenshots/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43000"/>
            <a:ext cx="5577840" cy="320040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badges.png ]</a:t>
            </a:r>
            <a:br/>
            <a:r>
              <a:t>请放入 docs/final_demo/screenshots/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格式塔 — 图底原则（不对称气泡圆角）  ·  WebSocket 实时推送 — Nielsen #1 最高标准  ·  Peak-End Rule — 徽章全屏动效 spring(0→1.1→1.0) + teleport  ·  游戏化激励 — 佩戴角标全局可见 · 社交展示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功能演示：管理后台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4937760"/>
          </a:xfrm>
          <a:prstGeom prst="rect">
            <a:avLst/>
          </a:prstGeom>
          <a:solidFill>
            <a:srgbClr val="121A2E"/>
          </a:solidFill>
          <a:ln w="19050">
            <a:solidFill>
              <a:srgbClr val="47536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[ 截图占位: admin_dashboard.png ]</a:t>
            </a:r>
            <a:br/>
            <a:r>
              <a:t>请放入 docs/final_demo/screenshots/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369"/>
                </a:solidFill>
                <a:latin typeface="Microsoft YaHei"/>
              </a:defRPr>
            </a:pPr>
            <a:r>
              <a:t>Nielsen #8 审美感和最小化设计 — 4 统计卡片信息架构  ·  Nielsen #1 状态可见度 — 举报红色角标 + 高亮双重强调  ·  数据格式化 1.2k / 1.2w — 减轻认知负担  ·  需求类型分布 chips + 百分比 — 数据图形化 &gt; 纯数字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10B98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白盒测试 · 黑盒测试 · CI/CD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白盒测试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三种覆盖标准：语句覆盖 · 分支覆盖 · 路径覆盖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881360" cy="228600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Microsoft YaHei"/>
              </a:defRPr>
            </a:pPr>
            <a:r>
              <a:t>覆盖标准（从弱到强）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74519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164592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标  准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要  求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强  度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最少用例数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语句覆盖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每条语句至少执行一次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★ 最弱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可能 1 个用例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分支覆盖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每个判断的真 / 假分支各执行一次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★★ 中等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每个 if 需要 ≥ 2 个 (T+F)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路径覆盖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每条独立执行路径各一次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★★★ 最强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路径数指数级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不可行时用 V(G) 代替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886200"/>
            <a:ext cx="10881360" cy="27889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Microsoft YaHei"/>
              </a:defRPr>
            </a:pPr>
            <a:r>
              <a:t>本项目测试实践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38912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164592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测试层次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框架 &amp; 工具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用例数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测试重点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Service 层（白盒）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JUnit 5 + @SpringBootTest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H2 内存数据库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语句：register → 验证字段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分支：重复学号 → assertThrows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路径：发布→接单→完成→互评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Controller 层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（白盒 + 黑盒）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MockMvc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@AutoConfigureMockMvc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等价类：200 / 400 / 403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边界值：min=1 合法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多角色：发布者/接单者/管理员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WebSocket 集成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STOMP Client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BlockingQueue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JWT WebSocket 鉴权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消息实时推送验证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黑盒测试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等价类划分 · 边界值分析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等价类划分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486400" cy="24231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等价类类型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如何确定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示例（积分 1–100）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有效等价类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符合需求范围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 ≤ x ≤ 100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取代表值 50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无效等价类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超出范围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x &lt; 1（取 0）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x &gt; 100（取 101）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额外无效类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非预期类型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字母 · 空值</a:t>
                      </a:r>
                    </a:p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负数 · 小数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Microsoft YaHei"/>
              </a:defRPr>
            </a:pPr>
            <a:r>
              <a:t>边界值分析 — 最易出 Bug！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83080"/>
            <a:ext cx="5303520" cy="242316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92024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280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取值点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公式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积分(1–100)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min−1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 − 1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非法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合法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min+1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min + 1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合法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max−1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 − 1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合法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合法</a:t>
                      </a:r>
                    </a:p>
                  </a:txBody>
                  <a:tcPr anchor="ctr">
                    <a:solidFill>
                      <a:srgbClr val="1620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max+1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max + 1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94A3B8"/>
                          </a:solidFill>
                          <a:latin typeface="Microsoft YaHei"/>
                        </a:defRPr>
                      </a:pPr>
                      <a:r>
                        <a:t>非法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434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从需求规格中提取：等价类划分 → 每个类选代表值</a:t>
            </a:r>
            <a:br/>
            <a:r>
              <a:t>边界值分析 → 对每个范围取 min−1 / min / min+1 / max−1 / max / max+1 六点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CI/CD 持续集成与部署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GitHub Actions · 自动化测试 · 持续交付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623560" cy="3474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Microsoft YaHei"/>
              </a:defRPr>
            </a:pPr>
            <a:r>
              <a:t>Backend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触发：每次 push / Pull Request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① Checkout 代码 + Set up JDK 17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② Maven 依赖缓存（actions/cache）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③ mvn test（H2 内存数据库）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④ 243 测试用例自动执行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⑤ Checkstyle 代码风格检查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⏱ 平均耗时 ~1m20s</a:t>
            </a:r>
          </a:p>
          <a:p>
            <a:pPr>
              <a:spcAft>
                <a:spcPts val="600"/>
              </a:spcAft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✓ 全绿才能合并到 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5623560" cy="34747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Frontend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触发：每次 push / Pull Request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① Checkout 代码 + Set up Node.js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② npm ci（锁定依赖版本）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③ npm run build（Vite 生产构建）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④ ESLint 代码规范检查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⑤ 构建产物验证（dist/ 非空）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⏱ 平均耗时 ~24s</a:t>
            </a:r>
          </a:p>
          <a:p>
            <a:pPr>
              <a:spcAft>
                <a:spcPts val="600"/>
              </a:spcAft>
              <a:defRPr sz="1400" b="1">
                <a:solidFill>
                  <a:srgbClr val="8B5CF6"/>
                </a:solidFill>
                <a:latin typeface="Microsoft YaHei"/>
              </a:defRPr>
            </a:pPr>
            <a:r>
              <a:t>✓ 构建失败阻止合并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74920"/>
            <a:ext cx="11247120" cy="14173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部署架构与分支策略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部署架构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Nginx 反向代理 → HTTPS 统一入口 → /api/* 转发 Spring Boot :8080 · 其余转发 Vite :5173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JWT 无状态认证 → 水平扩展友好 · 自签名证书（开发）/ Let's Encrypt（生产）</a:t>
            </a:r>
          </a:p>
          <a:p>
            <a:pPr>
              <a:spcAft>
                <a:spcPts val="400"/>
              </a:spcAft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分支策略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main 保护分支 + feature/* 特性分支 · PR + Code Review → Squash Merge · 合并前强制通过 CI 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功能完整度 · 工程规范 · 人机交互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30175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45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Microsoft YaHei"/>
              </a:defRPr>
            </a:pPr>
            <a:r>
              <a:t>功能完整度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6 种需求类型全覆盖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实时聊天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积分系统（不可变账本）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9 种成就徽章 + 游戏化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062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组队协作 · 收藏 · 举报审核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520440" cy="30175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371600"/>
            <a:ext cx="352044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icrosoft YaHei"/>
              </a:defRPr>
            </a:pPr>
            <a:r>
              <a:t>工程规范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945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全链路文档 P0–P4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Flyway V1–V14 版本迁移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004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架构决策记录 ADR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57 API + 18 路由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062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243 测试 · 60%+ 覆盖率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520440" cy="301752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1371600"/>
            <a:ext cx="352044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08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人机交互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Nielsen 10 条全覆盖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Shneiderman 8 条全覆盖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004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EEC 模型 · Fitts 定律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033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格式塔 · Peak-End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✦  M3E 设计系统 200+ token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09160"/>
            <a:ext cx="11247120" cy="640080"/>
          </a:xfrm>
          <a:prstGeom prst="roundRect">
            <a:avLst/>
          </a:prstGeom>
          <a:solidFill>
            <a:srgbClr val="16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Microsoft YaHei"/>
              </a:defRPr>
            </a:pPr>
            <a:r>
              <a:t>GitHub Actions 双 CI 流水线  ·  243 测试全部通过  ·  文档完整可交付  ·  Nielsen + Shneiderman 全覆盖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8FAFC"/>
                </a:solidFill>
                <a:latin typeface="Microsoft YaHei"/>
              </a:defRPr>
            </a:pPr>
            <a:r>
              <a:t>谢谢老师！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3200400"/>
            <a:ext cx="3047695" cy="11887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Microsoft YaHei"/>
              </a:defRPr>
            </a:pPr>
            <a:r>
              <a:t>欢迎提问 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校园互助服务平台  ·  团队不误正业  ·  2026.06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